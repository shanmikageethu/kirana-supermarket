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t>Daily Revenue</a:t>
            </a:r>
          </a:p>
        </c:rich>
      </c:tx>
      <c:layout/>
      <c:overlay val="0"/>
    </c:title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Revenue</c:v>
                </c:pt>
              </c:strCache>
            </c:strRef>
          </c:tx>
          <c:cat>
            <c:strRef>
              <c:f>Sheet1!$A$2:$A$8</c:f>
              <c:strCache>
                <c:ptCount val="7"/>
                <c:pt idx="0">
                  <c:v>08-31</c:v>
                </c:pt>
                <c:pt idx="1">
                  <c:v>09-01</c:v>
                </c:pt>
                <c:pt idx="2">
                  <c:v>09-02</c:v>
                </c:pt>
                <c:pt idx="3">
                  <c:v>09-03</c:v>
                </c:pt>
                <c:pt idx="4">
                  <c:v>09-04</c:v>
                </c:pt>
                <c:pt idx="5">
                  <c:v>09-05</c:v>
                </c:pt>
                <c:pt idx="6">
                  <c:v>09-06</c:v>
                </c:pt>
              </c:strCache>
            </c:strRef>
          </c:cat>
          <c:val>
            <c:numRef>
              <c:f>Sheet1!$B$2:$B$8</c:f>
              <c:numCache>
                <c:formatCode>General</c:formatCode>
                <c:ptCount val="7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  <c:pt idx="5">
                  <c:v>149.28</c:v>
                </c:pt>
                <c:pt idx="6">
                  <c:v>826.4</c:v>
                </c:pt>
              </c:numCache>
            </c:numRef>
          </c:val>
        </c:ser>
        <c:dLbls>
          <c:numFmt formatCode="₹#,##0" sourceLinked="0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t>Top Products by Revenue</a:t>
            </a:r>
          </a:p>
        </c:rich>
      </c:tx>
      <c:layout/>
      <c:overlay val="0"/>
    </c:title>
    <c:autoTitleDeleted val="0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Revenue</c:v>
                </c:pt>
              </c:strCache>
            </c:strRef>
          </c:tx>
          <c:cat>
            <c:strRef>
              <c:f>Sheet1!$A$2:$A$6</c:f>
              <c:strCache>
                <c:ptCount val="5"/>
                <c:pt idx="0">
                  <c:v>Sugar</c:v>
                </c:pt>
                <c:pt idx="1">
                  <c:v>Aashirvaad Atta 5kg</c:v>
                </c:pt>
                <c:pt idx="2">
                  <c:v>Maggi 70g</c:v>
                </c:pt>
                <c:pt idx="3">
                  <c:v>Rice</c:v>
                </c:pt>
                <c:pt idx="4">
                  <c:v>Amul Butter 100g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364.0</c:v>
                </c:pt>
                <c:pt idx="1">
                  <c:v>262.5</c:v>
                </c:pt>
                <c:pt idx="2">
                  <c:v>197.12</c:v>
                </c:pt>
                <c:pt idx="3">
                  <c:v>110.0</c:v>
                </c:pt>
                <c:pt idx="4">
                  <c:v>69.44</c:v>
                </c:pt>
              </c:numCache>
            </c:numRef>
          </c:val>
        </c:ser>
        <c:dLbls>
          <c:numFmt formatCode="₹#,##0" sourceLinked="0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axId val="-2068027336"/>
        <c:axId val="-2113994440"/>
      </c:barChart>
      <c:catAx>
        <c:axId val="-2068027336"/>
        <c:scaling>
          <c:orientation val="maxMin"/>
        </c:scaling>
        <c:delete val="0"/>
        <c:axPos val="l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b"/>
        <c:majorGridlines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560320"/>
            <a:ext cx="1033272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2C3E50"/>
                </a:solidFill>
              </a:rPr>
              <a:t>Kirana Store — Sales Analysis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3566160"/>
            <a:ext cx="103327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000">
                <a:solidFill>
                  <a:srgbClr val="7F8C8D"/>
                </a:solidFill>
              </a:rPr>
              <a:t>2026-08-31 to 2026-09-06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09728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>
                <a:solidFill>
                  <a:srgbClr val="2C3E50"/>
                </a:solidFill>
              </a:rPr>
              <a:t>Key Metrics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828800"/>
            <a:ext cx="25603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2C3E50"/>
                </a:solidFill>
              </a:rPr>
              <a:t>₹975.68</a:t>
            </a:r>
          </a:p>
          <a:p>
            <a:r>
              <a:rPr sz="1400">
                <a:solidFill>
                  <a:srgbClr val="7F8C8D"/>
                </a:solidFill>
              </a:rPr>
              <a:t>Total Sales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91840" y="1828800"/>
            <a:ext cx="25603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2C3E50"/>
                </a:solidFill>
              </a:rPr>
              <a:t>8</a:t>
            </a:r>
          </a:p>
          <a:p>
            <a:r>
              <a:rPr sz="1400">
                <a:solidFill>
                  <a:srgbClr val="7F8C8D"/>
                </a:solidFill>
              </a:rPr>
              <a:t>Bills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035040" y="1828800"/>
            <a:ext cx="25603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2C3E50"/>
                </a:solidFill>
              </a:rPr>
              <a:t>₹121.96</a:t>
            </a:r>
          </a:p>
          <a:p>
            <a:r>
              <a:rPr sz="1400">
                <a:solidFill>
                  <a:srgbClr val="7F8C8D"/>
                </a:solidFill>
              </a:rPr>
              <a:t>Avg. Bill Value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778240" y="1828800"/>
            <a:ext cx="25603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2C3E50"/>
                </a:solidFill>
              </a:rPr>
              <a:t>₹43.68</a:t>
            </a:r>
          </a:p>
          <a:p>
            <a:r>
              <a:rPr sz="1400">
                <a:solidFill>
                  <a:srgbClr val="7F8C8D"/>
                </a:solidFill>
              </a:rPr>
              <a:t>Tax Collected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3657600"/>
            <a:ext cx="5486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 sz="1600">
                <a:solidFill>
                  <a:srgbClr val="2C3E50"/>
                </a:solidFill>
              </a:rPr>
              <a:t>Payment methods: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4114800"/>
            <a:ext cx="5486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/>
              <a:t>UPI: ₹923.68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4480560"/>
            <a:ext cx="5486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/>
              <a:t>Cash: ₹52.00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09728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>
                <a:solidFill>
                  <a:srgbClr val="2C3E50"/>
                </a:solidFill>
              </a:rPr>
              <a:t>Low Stock — Reorder Soon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645920"/>
            <a:ext cx="105156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1800">
                <a:solidFill>
                  <a:srgbClr val="2C3E50"/>
                </a:solidFill>
              </a:rPr>
              <a:t>• atta: 0 kg left (reorder at 0)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09728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>
                <a:solidFill>
                  <a:srgbClr val="2C3E50"/>
                </a:solidFill>
              </a:rPr>
              <a:t>Daily Revenue Trend</a:t>
            </a:r>
          </a:p>
        </p:txBody>
      </p:sp>
      <p:graphicFrame>
        <p:nvGraphicFramePr>
          <p:cNvPr id="3" name="Chart 2"/>
          <p:cNvGraphicFramePr>
            <a:graphicFrameLocks noGrp="1"/>
          </p:cNvGraphicFramePr>
          <p:nvPr/>
        </p:nvGraphicFramePr>
        <p:xfrm>
          <a:off x="914400" y="1371600"/>
          <a:ext cx="10332720" cy="484632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09728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>
                <a:solidFill>
                  <a:srgbClr val="2C3E50"/>
                </a:solidFill>
              </a:rPr>
              <a:t>Top Products</a:t>
            </a:r>
          </a:p>
        </p:txBody>
      </p:sp>
      <p:graphicFrame>
        <p:nvGraphicFramePr>
          <p:cNvPr id="3" name="Chart 2"/>
          <p:cNvGraphicFramePr>
            <a:graphicFrameLocks noGrp="1"/>
          </p:cNvGraphicFramePr>
          <p:nvPr/>
        </p:nvGraphicFramePr>
        <p:xfrm>
          <a:off x="914400" y="1371600"/>
          <a:ext cx="10332720" cy="484632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09728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>
                <a:solidFill>
                  <a:srgbClr val="2C3E50"/>
                </a:solidFill>
              </a:rPr>
              <a:t>Insights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463040"/>
            <a:ext cx="1097280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1600">
                <a:solidFill>
                  <a:srgbClr val="2C3E50"/>
                </a:solidFill>
              </a:rPr>
              <a:t>• Sugar was the top earner by revenue, contributing ₹364.00 (37.3% of total sales).</a:t>
            </a:r>
          </a:p>
          <a:p>
            <a:pPr>
              <a:spcAft>
                <a:spcPts val="1200"/>
              </a:spcAft>
            </a:pPr>
            <a:r>
              <a:rPr sz="1600">
                <a:solidFill>
                  <a:srgbClr val="2C3E50"/>
                </a:solidFill>
              </a:rPr>
              <a:t>• Sugar was also the most profitable line, with ₹70.00 margin.</a:t>
            </a:r>
          </a:p>
          <a:p>
            <a:pPr>
              <a:spcAft>
                <a:spcPts val="1200"/>
              </a:spcAft>
            </a:pPr>
            <a:r>
              <a:rPr sz="1600">
                <a:solidFill>
                  <a:srgbClr val="2C3E50"/>
                </a:solidFill>
              </a:rPr>
              <a:t>• Best day was 2026-09-06, with ₹826.40 in sales.</a:t>
            </a:r>
          </a:p>
          <a:p>
            <a:pPr>
              <a:spcAft>
                <a:spcPts val="1200"/>
              </a:spcAft>
            </a:pPr>
            <a:r>
              <a:rPr sz="1600">
                <a:solidFill>
                  <a:srgbClr val="2C3E50"/>
                </a:solidFill>
              </a:rPr>
              <a:t>• Tax collected was ₹43.68, 4.5% of total sales.</a:t>
            </a:r>
          </a:p>
          <a:p>
            <a:pPr>
              <a:spcAft>
                <a:spcPts val="1200"/>
              </a:spcAft>
            </a:pPr>
            <a:r>
              <a:rPr sz="1600">
                <a:solidFill>
                  <a:srgbClr val="2C3E50"/>
                </a:solidFill>
              </a:rPr>
              <a:t>• Average bill value was ₹121.96 across 8 bills.</a:t>
            </a:r>
          </a:p>
          <a:p>
            <a:pPr>
              <a:spcAft>
                <a:spcPts val="1200"/>
              </a:spcAft>
            </a:pPr>
            <a:r>
              <a:rPr sz="1600">
                <a:solidFill>
                  <a:srgbClr val="2C3E50"/>
                </a:solidFill>
              </a:rPr>
              <a:t>• 1 product(s) are at or below their reorder level — see the Low Stock slide.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